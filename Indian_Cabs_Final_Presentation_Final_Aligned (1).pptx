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5173/log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365760"/>
            <a:ext cx="2926080" cy="2926080"/>
          </a:xfrm>
          <a:prstGeom prst="ellipse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1554480"/>
            <a:ext cx="1828800" cy="1828800"/>
          </a:xfrm>
          <a:prstGeom prst="ellipse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4297680"/>
            <a:ext cx="2286000" cy="2286000"/>
          </a:xfrm>
          <a:prstGeom prst="ellipse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1143000" cy="914400"/>
          </a:xfrm>
          <a:prstGeom prst="round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795528"/>
            <a:ext cx="914400" cy="59436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3400"/>
            </a:pPr>
            <a:r>
              <a:t>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Indian Cabs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6858000" cy="7315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100">
                <a:solidFill>
                  <a:srgbClr val="CDDCF0"/>
                </a:solidFill>
              </a:defRPr>
            </a:pPr>
            <a:r>
              <a:t>Cab Booking System —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572000"/>
            <a:ext cx="6858000" cy="9144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CE4EE"/>
                </a:solidFill>
              </a:defRPr>
            </a:pPr>
            <a:r>
              <a:t>Full-stack web-based cab booking platform</a:t>
            </a:r>
          </a:p>
          <a:p>
            <a:pPr>
              <a:spcAft>
                <a:spcPts val="500"/>
              </a:spcAft>
              <a:defRPr sz="1500">
                <a:solidFill>
                  <a:srgbClr val="DCE4EE"/>
                </a:solidFill>
              </a:defRPr>
            </a:pPr>
            <a:r>
              <a:t>React 19 + Vite • Node.js + Express • MongoDB + Mongoose</a:t>
            </a:r>
          </a:p>
          <a:p>
            <a:pPr>
              <a:spcAft>
                <a:spcPts val="500"/>
              </a:spcAft>
              <a:defRPr sz="1500">
                <a:solidFill>
                  <a:srgbClr val="DCE4EE"/>
                </a:solidFill>
              </a:defRPr>
            </a:pPr>
            <a:r>
              <a:t>Customer • Driver •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166360"/>
            <a:ext cx="6217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l">
              <a:defRPr sz="2000" b="1">
                <a:solidFill>
                  <a:srgbClr val="14233C"/>
                </a:solidFill>
              </a:defRPr>
            </a:pPr>
            <a:r>
              <a:rPr sz="2000" b="1">
                <a:solidFill>
                  <a:srgbClr val="14233C"/>
                </a:solidFill>
              </a:rPr>
              <a:t>Created by Chaurasiya Nilesh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Presentation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Project Introduction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Existing System &amp; Problem Statement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Objectives and Scope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Technology Stack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System Architecture &amp; Data Flow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Database Design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Backend APIs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Frontend Application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Business Logic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Authentication &amp; Security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Testing, Deployment and Error Handling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Advantages, Limitations and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1.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Indian Cabs is a web-based on-demand cab booking system.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Connects passengers with drivers through a centralized platform managed by an administrator.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Implements the complete ride lifecycle from request and matching to completion and review.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Provides fare estimation, ride status tracking, wallet payments and commission management.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Uses a three-tier architecture: React presentation layer, Express application layer and MongoDB data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2.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292607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2926079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Customer, Driver and Admin role-based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69164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81912"/>
            <a:ext cx="292607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Ride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75688"/>
            <a:ext cx="2926079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Pickup/dropoff, vehicle selection and fare estimate.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417320"/>
            <a:ext cx="73152" cy="169164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581912"/>
            <a:ext cx="292607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075688"/>
            <a:ext cx="2926079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Status updates, ETA countdown and waiting timer.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73152" cy="169164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30752"/>
            <a:ext cx="292607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Wallet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24528"/>
            <a:ext cx="2926079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Recharge, ride payment and cancellation refund.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5661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566160"/>
            <a:ext cx="73152" cy="1691640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730752"/>
            <a:ext cx="292607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Commission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24528"/>
            <a:ext cx="2926079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Automatic driver/admin fare split.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5661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3566160"/>
            <a:ext cx="73152" cy="169164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3730752"/>
            <a:ext cx="292607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224528"/>
            <a:ext cx="2926079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1–5 star rating with optional comments.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3. Existing System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Manual or phone-based booking is time-consuming and error-prone.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Fares may be negotiated, creating inconsistency and disputes.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Customers have no clear real-time driver or ride status.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Cash-based payment makes accounting, refunds and reconciliation difficult.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No centralized administration for drivers, rides and platform analytics.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• No structured rating/feedback mechanism and limited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4.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Customer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297180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• Uncertain driver availability</a:t>
            </a:r>
            <a:br/>
            <a:r>
              <a:t>• No upfront fare transparency</a:t>
            </a:r>
            <a:br/>
            <a:r>
              <a:t>• Long/uncertain waiting</a:t>
            </a:r>
            <a:br/>
            <a:r>
              <a:t>• Limited payment options</a:t>
            </a:r>
            <a:br/>
            <a:r>
              <a:t>• No structured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8191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Driver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75688"/>
            <a:ext cx="297180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• Difficulty receiving nearby requests</a:t>
            </a:r>
            <a:br/>
            <a:r>
              <a:t>• No unified ride lifecycle</a:t>
            </a:r>
            <a:br/>
            <a:r>
              <a:t>• Manual earning tracking</a:t>
            </a:r>
            <a:br/>
            <a:r>
              <a:t>• Limited vehicle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8191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Admin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75688"/>
            <a:ext cx="297180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• No centralized monitoring</a:t>
            </a:r>
            <a:br/>
            <a:r>
              <a:t>• Manual driver management</a:t>
            </a:r>
            <a:br/>
            <a:r>
              <a:t>• Difficult revenue tracking</a:t>
            </a:r>
            <a:br/>
            <a:r>
              <a:t>• Limited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5.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Develop an online cab booking platform with fare estimation and ride tracking.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Implement role-based access for Customer, Driver and Admin.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Automate transparent distance-based fare calculation.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Manage the full ride lifecycle with real-time status updates.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Provide a digital wallet with recharge, payment and refund capabilities.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Match customers with nearby available drivers using the Haversine formula.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Provide administration, ratings, multiple vehicles and scalable modular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6. Scope of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438912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48006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4800600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• Registration &amp; JWT authentication</a:t>
            </a:r>
            <a:br/>
            <a:r>
              <a:t>• Ride booking and distance calculation</a:t>
            </a:r>
            <a:br/>
            <a:r>
              <a:t>• Driver registration and vehicle CRUD</a:t>
            </a:r>
            <a:br/>
            <a:r>
              <a:t>• Ride lifecycle management</a:t>
            </a:r>
            <a:br/>
            <a:r>
              <a:t>• Wallet and payment processing</a:t>
            </a:r>
            <a:br/>
            <a:r>
              <a:t>• Commission and refunds</a:t>
            </a:r>
            <a:br/>
            <a:r>
              <a:t>• Admin dashboard and monitoring</a:t>
            </a:r>
            <a:br/>
            <a:r>
              <a:t>• Rating system and theme support</a:t>
            </a:r>
            <a:br/>
            <a:r>
              <a:t>• MongoDB data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38912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006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Future / 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84248"/>
            <a:ext cx="4800600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• GPS map visualization</a:t>
            </a:r>
            <a:br/>
            <a:r>
              <a:t>• Push notifications</a:t>
            </a:r>
            <a:br/>
            <a:r>
              <a:t>• Real payment gateway</a:t>
            </a:r>
            <a:br/>
            <a:r>
              <a:t>• OTP authentication</a:t>
            </a:r>
            <a:br/>
            <a:r>
              <a:t>• Multi-city operations</a:t>
            </a:r>
            <a:br/>
            <a:r>
              <a:t>• Advanced scheduling</a:t>
            </a:r>
            <a:br/>
            <a:r>
              <a:t>• Native mobile apps</a:t>
            </a:r>
            <a:br/>
            <a:r>
              <a:t>• In-app chat</a:t>
            </a:r>
            <a:br/>
            <a:r>
              <a:t>• Surge pricing</a:t>
            </a:r>
            <a:br/>
            <a:r>
              <a:t>• Driver KYC/document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7.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393192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1"/>
            <a:ext cx="21488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2148839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React 19</a:t>
            </a:r>
            <a:br/>
            <a:r>
              <a:t>Vite 8</a:t>
            </a:r>
            <a:br/>
            <a:r>
              <a:t>TypeScript 6</a:t>
            </a:r>
            <a:br/>
            <a:r>
              <a:t>React Router DOM 7</a:t>
            </a:r>
            <a:br/>
            <a:r>
              <a:t>TailwindCSS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50876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508760"/>
            <a:ext cx="73152" cy="393192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673351"/>
            <a:ext cx="21488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167128"/>
            <a:ext cx="2148839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Node.js 18+</a:t>
            </a:r>
            <a:br/>
            <a:r>
              <a:t>Express.js 4.19.x</a:t>
            </a:r>
            <a:br/>
            <a:r>
              <a:t>JWT</a:t>
            </a:r>
            <a:br/>
            <a:r>
              <a:t>bcryptjs</a:t>
            </a:r>
            <a:br/>
            <a:r>
              <a:t>CORS + dotenv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0876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508760"/>
            <a:ext cx="73152" cy="393192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73351"/>
            <a:ext cx="21488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7128"/>
            <a:ext cx="2148839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MongoDB 6+</a:t>
            </a:r>
            <a:br/>
            <a:r>
              <a:t>Mongoose 8.2.x</a:t>
            </a:r>
            <a:br/>
            <a:r>
              <a:t>Document-oriented NoSQL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50876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1508760"/>
            <a:ext cx="73152" cy="393192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673351"/>
            <a:ext cx="21488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Alternative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67128"/>
            <a:ext cx="2148839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PHP 8.2+</a:t>
            </a:r>
            <a:br/>
            <a:r>
              <a:t>Laravel 11.x</a:t>
            </a:r>
            <a:br/>
            <a:r>
              <a:t>MySQL 8.0+</a:t>
            </a:r>
            <a:br/>
            <a:r>
              <a:t>Sanctum + Eloquent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8. Three-Tier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2926080" cy="868680"/>
          </a:xfrm>
          <a:prstGeom prst="round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87752"/>
            <a:ext cx="27432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React 19 + Vite</a:t>
            </a:r>
            <a:br/>
            <a:r>
              <a:t>Presentation Layer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2697479"/>
            <a:ext cx="64008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2423160"/>
            <a:ext cx="292608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87752"/>
            <a:ext cx="27432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Node.js + Express</a:t>
            </a:r>
            <a:br/>
            <a:r>
              <a:t>Application Layer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98080" y="2697479"/>
            <a:ext cx="64008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2423160"/>
            <a:ext cx="292608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87752"/>
            <a:ext cx="27432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MongoDB + Mongoose</a:t>
            </a:r>
            <a:br/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39"/>
            <a:ext cx="1005840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Client browser provides role-specific dashboards.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REST API handles authentication, business logic and ride orchestration.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MongoDB stores users, rides, payments, reviews and wallets.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9. System Architecture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6060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411480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81912"/>
            <a:ext cx="219456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219456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Login / Register</a:t>
            </a:r>
            <a:br/>
            <a:r>
              <a:t>Customer Dashboard</a:t>
            </a:r>
            <a:br/>
            <a:r>
              <a:t>Driver Dashboard</a:t>
            </a:r>
            <a:br/>
            <a:r>
              <a:t>Admin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26060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417320"/>
            <a:ext cx="73152" cy="411480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581912"/>
            <a:ext cx="219456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5688"/>
            <a:ext cx="219456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CORS</a:t>
            </a:r>
            <a:br/>
            <a:r>
              <a:t>JSON parser</a:t>
            </a:r>
            <a:br/>
            <a:r>
              <a:t>JWT middleware</a:t>
            </a:r>
            <a:br/>
            <a:r>
              <a:t>Controllers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26060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73152" cy="411480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81912"/>
            <a:ext cx="219456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75688"/>
            <a:ext cx="219456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User</a:t>
            </a:r>
            <a:br/>
            <a:r>
              <a:t>Ride</a:t>
            </a:r>
            <a:br/>
            <a:r>
              <a:t>DriverDetail</a:t>
            </a:r>
            <a:br/>
            <a:r>
              <a:t>Payment</a:t>
            </a:r>
            <a:br/>
            <a:r>
              <a:t>Review</a:t>
            </a:r>
            <a:br/>
            <a:r>
              <a:t>Wallet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417320"/>
            <a:ext cx="26060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17320"/>
            <a:ext cx="73152" cy="411480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581912"/>
            <a:ext cx="219456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075688"/>
            <a:ext cx="219456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Users</a:t>
            </a:r>
            <a:br/>
            <a:r>
              <a:t>Rides</a:t>
            </a:r>
            <a:br/>
            <a:r>
              <a:t>Payments</a:t>
            </a:r>
            <a:br/>
            <a:r>
              <a:t>Reviews</a:t>
            </a:r>
            <a:br/>
            <a:r>
              <a:t>Wallets</a:t>
            </a:r>
            <a:br/>
            <a:r>
              <a:t>Transactions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10. Data Flow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2103120" cy="868680"/>
          </a:xfrm>
          <a:prstGeom prst="round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1920239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71799" y="2194560"/>
            <a:ext cx="73152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3320" y="1920240"/>
            <a:ext cx="274320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2084832"/>
            <a:ext cx="25603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Express API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92240" y="2194560"/>
            <a:ext cx="73152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59" y="1920240"/>
            <a:ext cx="246888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9" y="2084832"/>
            <a:ext cx="22860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37560"/>
            <a:ext cx="2103120" cy="868680"/>
          </a:xfrm>
          <a:prstGeom prst="round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1920239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Driver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799" y="3611879"/>
            <a:ext cx="73152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03320" y="3337560"/>
            <a:ext cx="274320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59" y="3502152"/>
            <a:ext cx="25603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Express API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92240" y="3611879"/>
            <a:ext cx="73152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59" y="3337560"/>
            <a:ext cx="246888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3502152"/>
            <a:ext cx="22860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MongoDB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54880"/>
            <a:ext cx="2103120" cy="868680"/>
          </a:xfrm>
          <a:prstGeom prst="round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19472"/>
            <a:ext cx="1920239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71799" y="5029200"/>
            <a:ext cx="73152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03320" y="4754880"/>
            <a:ext cx="274320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59" y="4919472"/>
            <a:ext cx="25603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Express API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492240" y="5029200"/>
            <a:ext cx="73152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59" y="4754880"/>
            <a:ext cx="246888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9" y="4919472"/>
            <a:ext cx="22860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MongoDB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11. Module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44751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Frontend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2971800" cy="3657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Login / Register</a:t>
            </a:r>
            <a:br/>
            <a:r>
              <a:t>Customer Dashboard</a:t>
            </a:r>
            <a:br/>
            <a:r>
              <a:t>Driver Dashboard</a:t>
            </a:r>
            <a:br/>
            <a:r>
              <a:t>Admin Dashboard</a:t>
            </a:r>
            <a:br/>
            <a:r>
              <a:t>Theme Toggle</a:t>
            </a:r>
            <a:br/>
            <a:r>
              <a:t>API Service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73152" cy="448056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44751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Backend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2971800" cy="3657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Auth Controller</a:t>
            </a:r>
            <a:br/>
            <a:r>
              <a:t>Customer Ride Controller</a:t>
            </a:r>
            <a:br/>
            <a:r>
              <a:t>Driver Controller</a:t>
            </a:r>
            <a:br/>
            <a:r>
              <a:t>Admin Controller</a:t>
            </a:r>
            <a:br/>
            <a:r>
              <a:t>Wallet Controller</a:t>
            </a:r>
            <a:br/>
            <a:r>
              <a:t>Auth Middleware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73152" cy="448056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44751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Data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38528"/>
            <a:ext cx="2971800" cy="3657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Users</a:t>
            </a:r>
            <a:br/>
            <a:r>
              <a:t>Rides</a:t>
            </a:r>
            <a:br/>
            <a:r>
              <a:t>Driver Details</a:t>
            </a:r>
            <a:br/>
            <a:r>
              <a:t>Payments</a:t>
            </a:r>
            <a:br/>
            <a:r>
              <a:t>Reviews</a:t>
            </a:r>
            <a:br/>
            <a:r>
              <a:t>Wallets</a:t>
            </a:r>
            <a:br/>
            <a:r>
              <a:t>Wallet Transactions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12. 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700">
                <a:solidFill>
                  <a:srgbClr val="232A34"/>
                </a:solidFill>
                <a:latin typeface="Courier New"/>
              </a:defRPr>
            </a:pPr>
            <a:r>
              <a:t>cab-booking/</a:t>
            </a:r>
            <a:br/>
            <a:r>
              <a:t>├── cab-backend-node/</a:t>
            </a:r>
            <a:br/>
            <a:r>
              <a:t>│   ├── controllers/</a:t>
            </a:r>
            <a:br/>
            <a:r>
              <a:t>│   ├── middleware/</a:t>
            </a:r>
            <a:br/>
            <a:r>
              <a:t>│   ├── models/</a:t>
            </a:r>
            <a:br/>
            <a:r>
              <a:t>│   ├── server.js</a:t>
            </a:r>
            <a:br/>
            <a:r>
              <a:t>│   ├── seed.js</a:t>
            </a:r>
            <a:br/>
            <a:r>
              <a:t>│   └── package.json</a:t>
            </a:r>
            <a:br/>
            <a:r>
              <a:t>├── cab-frontend/</a:t>
            </a:r>
            <a:br/>
            <a:r>
              <a:t>│   ├── src/components/</a:t>
            </a:r>
            <a:br/>
            <a:r>
              <a:t>│   ├── src/services/api.ts</a:t>
            </a:r>
            <a:br/>
            <a:r>
              <a:t>│   ├── App.tsx</a:t>
            </a:r>
            <a:br/>
            <a:r>
              <a:t>│   └── main.tsx</a:t>
            </a:r>
            <a:br/>
            <a:r>
              <a:t>├── start.sh</a:t>
            </a:r>
            <a:br/>
            <a:r>
              <a:t>├── stop.sh</a:t>
            </a:r>
            <a:br/>
            <a:r>
              <a:t>├── status.sh</a:t>
            </a:r>
            <a:br/>
            <a:r>
              <a:t>└── test.sh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13. 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Database: cab_booking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Database technology: MongoDB NoSQL with Mongoose ODM.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Seven primary collections support the application.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ObjectId references connect users, rides, payments and related records.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Flexible document storage suits the JavaScript/Node.js stack.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Mongoose provides validation, virtual relationships and middleware hooks.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14. Database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164592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21031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21031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Accounts: customer, driver,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325880"/>
            <a:ext cx="73152" cy="164592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490472"/>
            <a:ext cx="21031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84248"/>
            <a:ext cx="21031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Booking, locations, status, fare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73152" cy="164592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1031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driverdetails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84248"/>
            <a:ext cx="21031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Vehicle and driver 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2588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325880"/>
            <a:ext cx="73152" cy="164592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490472"/>
            <a:ext cx="21031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84248"/>
            <a:ext cx="21031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Amount, commission, 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2900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429000"/>
            <a:ext cx="73152" cy="164592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593592"/>
            <a:ext cx="21031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087368"/>
            <a:ext cx="21031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Rating and comment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42900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429000"/>
            <a:ext cx="73152" cy="164592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593592"/>
            <a:ext cx="21031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wallets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087368"/>
            <a:ext cx="21031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Current wallet balance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42900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429000"/>
            <a:ext cx="73152" cy="164592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593592"/>
            <a:ext cx="21031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wallettransactions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087368"/>
            <a:ext cx="21031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Deposit, payment, refund logs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15. ER Diagram — Main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011680" cy="868680"/>
          </a:xfrm>
          <a:prstGeom prst="round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1920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45920"/>
            <a:ext cx="201168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874519"/>
            <a:ext cx="1920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DRIVER_DETAIL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645920"/>
            <a:ext cx="2011680" cy="868680"/>
          </a:xfrm>
          <a:prstGeom prst="round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19"/>
            <a:ext cx="1920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251960"/>
            <a:ext cx="2011680" cy="868680"/>
          </a:xfrm>
          <a:prstGeom prst="round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480560"/>
            <a:ext cx="1920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251960"/>
            <a:ext cx="201168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480560"/>
            <a:ext cx="1920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2011680" cy="868680"/>
          </a:xfrm>
          <a:prstGeom prst="round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1920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WALLET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251960"/>
            <a:ext cx="201168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4480560"/>
            <a:ext cx="192024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WALLET_TX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45920" y="2084832"/>
            <a:ext cx="3474720" cy="0"/>
          </a:xfrm>
          <a:prstGeom prst="line">
            <a:avLst/>
          </a:prstGeom>
          <a:ln w="25400">
            <a:solidFill>
              <a:srgbClr val="67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45920" y="2084832"/>
            <a:ext cx="6949440" cy="0"/>
          </a:xfrm>
          <a:prstGeom prst="line">
            <a:avLst/>
          </a:prstGeom>
          <a:ln w="25400">
            <a:solidFill>
              <a:srgbClr val="67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45920" y="2084832"/>
            <a:ext cx="0" cy="2606040"/>
          </a:xfrm>
          <a:prstGeom prst="line">
            <a:avLst/>
          </a:prstGeom>
          <a:ln w="25400">
            <a:solidFill>
              <a:srgbClr val="67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95360" y="2084832"/>
            <a:ext cx="0" cy="2606040"/>
          </a:xfrm>
          <a:prstGeom prst="line">
            <a:avLst/>
          </a:prstGeom>
          <a:ln w="25400">
            <a:solidFill>
              <a:srgbClr val="67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120640" y="2084832"/>
            <a:ext cx="3474720" cy="2606040"/>
          </a:xfrm>
          <a:prstGeom prst="line">
            <a:avLst/>
          </a:prstGeom>
          <a:ln w="25400">
            <a:solidFill>
              <a:srgbClr val="67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45920" y="4690872"/>
            <a:ext cx="9418320" cy="0"/>
          </a:xfrm>
          <a:prstGeom prst="line">
            <a:avLst/>
          </a:prstGeom>
          <a:ln w="25400">
            <a:solidFill>
              <a:srgbClr val="67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16. Backend API —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429768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288036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288036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POST /api/register</a:t>
            </a:r>
            <a:br/>
            <a:br/>
            <a:r>
              <a:t>Creates a new Customer or Driver account.</a:t>
            </a:r>
            <a:br/>
            <a:r>
              <a:t>Driver registration may include vehicle details.</a:t>
            </a:r>
            <a:br/>
            <a:r>
              <a:t>Returns user + JWT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73152" cy="429768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90472"/>
            <a:ext cx="288036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84248"/>
            <a:ext cx="288036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POST /api/login</a:t>
            </a:r>
            <a:br/>
            <a:br/>
            <a:r>
              <a:t>Validates email/password.</a:t>
            </a:r>
            <a:br/>
            <a:r>
              <a:t>Returns JWT on success.</a:t>
            </a:r>
            <a:br/>
            <a:r>
              <a:t>Suspended accounts receive 403.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73152" cy="429768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90472"/>
            <a:ext cx="288036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Session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84248"/>
            <a:ext cx="288036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POST /api/logout</a:t>
            </a:r>
            <a:br/>
            <a:r>
              <a:t>GET /api/me</a:t>
            </a:r>
            <a:br/>
            <a:br/>
            <a:r>
              <a:t>JWT is stateless; client removes stored token on logout.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17. Customer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Find nearby available drivers using latitude, longitude and a search radius.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Book a ride using pickup/dropoff, distance, vehicle type and payment method.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View paginated ride history and complete ride details.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Cancel eligible rides; wallet-paid rides receive automatic refunds.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Rate completed rides from 1–5 stars with an optional comment.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View and recharge wallet; maximum wallet balance is ₹2,000.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18. Driver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Go online/offline and periodically update location availability.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Receive nearby requests matching the driver's vehicle type.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Accept a ride using an atomic update to avoid duplicate acceptance.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Estimated pickup time is set to a random 1–3 minute ETA.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Progress ride: Arrived at Pickup → Start Ride → Complete Ride.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Manage vehicle details and view ride history, earnings and rating.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19. Admin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• Dashboard statistics: total earnings, completed rides, users and active drivers.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• View/search/filter users by role and status.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• Suspend or activate users; self-account status cannot be modified.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• Delete drivers when constraints are satisfied.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• Monitor active bookings and browse paginated ride history.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• Add drivers directly with account and vehicle details.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• Dashboard data auto-refreshes every 2 seconds.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20. Frontend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29718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/login → Login</a:t>
            </a:r>
            <a:br/>
            <a:r>
              <a:t>/register → Register</a:t>
            </a:r>
            <a:br/>
            <a:r>
              <a:t>/customer → Customer</a:t>
            </a:r>
            <a:br/>
            <a:r>
              <a:t>/driver → Driver</a:t>
            </a:r>
            <a:br/>
            <a:r>
              <a:t>/admin → Admin</a:t>
            </a:r>
            <a:br/>
            <a:r>
              <a:t>* →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429768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9047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Customer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84248"/>
            <a:ext cx="29718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Booking panel</a:t>
            </a:r>
            <a:br/>
            <a:r>
              <a:t>Live fare preview</a:t>
            </a:r>
            <a:br/>
            <a:r>
              <a:t>Active ride tracking</a:t>
            </a:r>
            <a:br/>
            <a:r>
              <a:t>Ride history</a:t>
            </a:r>
            <a:br/>
            <a:r>
              <a:t>Wallet</a:t>
            </a:r>
            <a:br/>
            <a:r>
              <a:t>Rating modal</a:t>
            </a:r>
            <a:br/>
            <a:r>
              <a:t>Profile modal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73152" cy="429768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9047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Driver/Admin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84248"/>
            <a:ext cx="29718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Driver online toggle</a:t>
            </a:r>
            <a:br/>
            <a:r>
              <a:t>Requests + countdown</a:t>
            </a:r>
            <a:br/>
            <a:r>
              <a:t>Trip status controls</a:t>
            </a:r>
            <a:br/>
            <a:r>
              <a:t>Earnings &amp; rating</a:t>
            </a:r>
            <a:br/>
            <a:r>
              <a:t>Admin statistics</a:t>
            </a:r>
            <a:br/>
            <a:r>
              <a:t>Driver roster</a:t>
            </a:r>
            <a:br/>
            <a:r>
              <a:t>Active bookings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21. Fare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4754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73152" cy="201168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36192"/>
            <a:ext cx="43434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29967"/>
            <a:ext cx="43434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400">
                <a:solidFill>
                  <a:srgbClr val="232A34"/>
                </a:solidFill>
              </a:defRPr>
            </a:pPr>
            <a:r>
              <a:t>Fare = Distance (km) × Rate per km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234440"/>
            <a:ext cx="73152" cy="105156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99032"/>
            <a:ext cx="14173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892808"/>
            <a:ext cx="1417320" cy="2285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₹30 / 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65176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2651760"/>
            <a:ext cx="73152" cy="105156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816352"/>
            <a:ext cx="14173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Bike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310128"/>
            <a:ext cx="1417320" cy="2285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₹10 / km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0690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4069080"/>
            <a:ext cx="73152" cy="105156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233672"/>
            <a:ext cx="14173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Rickshaw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727448"/>
            <a:ext cx="1417320" cy="2285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₹20 /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40480"/>
            <a:ext cx="10241280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Duration estimate = ceil((distance / 30 km/h) × 60).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Client-side fare estimation matches backend logic.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Fare returns 0 when pickup/dropoff is empty or distance is invalid.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22. Ride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1828800" cy="868680"/>
          </a:xfrm>
          <a:prstGeom prst="round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Requested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2377439"/>
            <a:ext cx="22860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2103120"/>
            <a:ext cx="182880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267712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Accepted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34840" y="2377439"/>
            <a:ext cx="22860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2103120"/>
            <a:ext cx="1920240" cy="868680"/>
          </a:xfrm>
          <a:prstGeom prst="round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267712"/>
            <a:ext cx="173736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Waiting for</a:t>
            </a:r>
            <a:br/>
            <a:r>
              <a:t>Customer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29399" y="2377439"/>
            <a:ext cx="22860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1828800" cy="868680"/>
          </a:xfrm>
          <a:prstGeom prst="round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267712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2377439"/>
            <a:ext cx="22860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2103120"/>
            <a:ext cx="182880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267712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60704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Customer can cancel before completion in eligible states.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• Driver completion triggers payment processing, wallet credits and transaction logs.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23. Payment, Commission &amp; Wallet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38912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30632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3063239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Payment record starts as pending.</a:t>
            </a:r>
            <a:br/>
            <a:r>
              <a:t>Wallet payment is deducted at booking.</a:t>
            </a:r>
            <a:br/>
            <a:r>
              <a:t>Completion marks payment completed.</a:t>
            </a:r>
            <a:br/>
            <a:r>
              <a:t>Cancellation can trigger a full wallet refund.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73152" cy="438912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0632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Commission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84248"/>
            <a:ext cx="3063239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admin_commission = fare × 10%</a:t>
            </a:r>
            <a:br/>
            <a:br/>
            <a:r>
              <a:t>driver_earning = fare − commission</a:t>
            </a:r>
            <a:br/>
            <a:br/>
            <a:r>
              <a:t>Driver and admin wallets are credited on completion.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73152" cy="438912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90472"/>
            <a:ext cx="30632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Wallet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84248"/>
            <a:ext cx="3063239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Deposit = recharge/earning</a:t>
            </a:r>
            <a:br/>
            <a:r>
              <a:t>Payment = ride deduction</a:t>
            </a:r>
            <a:br/>
            <a:r>
              <a:t>Refund = cancellation refund</a:t>
            </a:r>
            <a:br/>
            <a:br/>
            <a:r>
              <a:t>Transactions provide an audit trail.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24. Driver Matching — Haversine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429768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34290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Matching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34290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• Driver must be available.</a:t>
            </a:r>
            <a:br/>
            <a:r>
              <a:t>• Vehicle type must match.</a:t>
            </a:r>
            <a:br/>
            <a:r>
              <a:t>• Pickup must be within 15 km.</a:t>
            </a:r>
            <a:br/>
            <a:r>
              <a:t>• Results are sorted nearest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325880"/>
            <a:ext cx="6400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325880"/>
            <a:ext cx="73152" cy="429768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490472"/>
            <a:ext cx="59893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984248"/>
            <a:ext cx="598932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1. Customer supplies pickup/dropoff coordinates.</a:t>
            </a:r>
            <a:br/>
            <a:r>
              <a:t>2. API calculates distance using Haversine formula.</a:t>
            </a:r>
            <a:br/>
            <a:r>
              <a:t>3. Backend queries online drivers.</a:t>
            </a:r>
            <a:br/>
            <a:r>
              <a:t>4. Drivers are filtered by vehicle type and 15 km radius.</a:t>
            </a:r>
            <a:br/>
            <a:r>
              <a:t>5. Nearest matching driver is prioritized.</a:t>
            </a:r>
            <a:br/>
            <a:r>
              <a:t>6. Ride request is saved and driver is alerted.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25. Authentication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103120" cy="868680"/>
          </a:xfrm>
          <a:prstGeom prst="round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993392"/>
            <a:ext cx="1920239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 Login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20" y="2103120"/>
            <a:ext cx="41148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828800"/>
            <a:ext cx="237744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93392"/>
            <a:ext cx="219456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Validation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23559" y="2103120"/>
            <a:ext cx="41148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2286000" cy="868680"/>
          </a:xfrm>
          <a:prstGeom prst="round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993392"/>
            <a:ext cx="21031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JWT Generated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366760" y="2103120"/>
            <a:ext cx="411480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0" y="1828800"/>
            <a:ext cx="246888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993392"/>
            <a:ext cx="22860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1051560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Passwords are hashed using bcrypt with 10 salt rounds.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JWT tokens expire after 30 days and are verified on protected requests.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Role-restricted middleware prevents unauthorized feature access.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Suspended users receive 403 responses.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Atomic ride acceptance helps prevent race conditions.</a:t>
            </a:r>
          </a:p>
          <a:p>
            <a:pPr>
              <a:spcAft>
                <a:spcPts val="1000"/>
              </a:spcAft>
              <a:defRPr sz="1500" b="0">
                <a:solidFill>
                  <a:srgbClr val="232A34"/>
                </a:solidFill>
              </a:defRPr>
            </a:pPr>
            <a:r>
              <a:t>• Payout flag prevents duplicate earnings distribution.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26. Software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828800" cy="868680"/>
          </a:xfrm>
          <a:prstGeom prst="round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3351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77439" y="1783080"/>
            <a:ext cx="164592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42032" y="1508760"/>
            <a:ext cx="1828800" cy="86868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673351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Integration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16552" y="1783080"/>
            <a:ext cx="164592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1144" y="1508760"/>
            <a:ext cx="1828800" cy="868680"/>
          </a:xfrm>
          <a:prstGeom prst="round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1673351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System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55664" y="1783080"/>
            <a:ext cx="164592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0256" y="1508760"/>
            <a:ext cx="1828800" cy="868680"/>
          </a:xfrm>
          <a:prstGeom prst="round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1673351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UAT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94776" y="1783080"/>
            <a:ext cx="164592" cy="292608"/>
          </a:xfrm>
          <a:prstGeom prst="rightArrow">
            <a:avLst/>
          </a:prstGeom>
          <a:solidFill>
            <a:srgbClr val="67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59368" y="1508760"/>
            <a:ext cx="1828800" cy="868680"/>
          </a:xfrm>
          <a:prstGeom prst="round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0808" y="1673351"/>
            <a:ext cx="1645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83464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834640"/>
            <a:ext cx="73152" cy="246888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99923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Unit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493008"/>
            <a:ext cx="297180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Haversine distance</a:t>
            </a:r>
            <a:br/>
            <a:r>
              <a:t>Fare calculation</a:t>
            </a:r>
            <a:br/>
            <a:r>
              <a:t>Password hashing/comparison</a:t>
            </a:r>
            <a:br/>
            <a:r>
              <a:t>Pagination</a:t>
            </a:r>
            <a:br/>
            <a:r>
              <a:t>Vehicle type mapping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83464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834640"/>
            <a:ext cx="73152" cy="246888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99923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Integration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493008"/>
            <a:ext cx="297180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Authentication APIs</a:t>
            </a:r>
            <a:br/>
            <a:r>
              <a:t>Customer ride APIs</a:t>
            </a:r>
            <a:br/>
            <a:r>
              <a:t>Driver APIs</a:t>
            </a:r>
            <a:br/>
            <a:r>
              <a:t>Wallet APIs</a:t>
            </a:r>
            <a:br/>
            <a:r>
              <a:t>Database 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83464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2834640"/>
            <a:ext cx="73152" cy="246888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999232"/>
            <a:ext cx="29718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UAT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493008"/>
            <a:ext cx="297180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Customer flow tested</a:t>
            </a:r>
            <a:br/>
            <a:r>
              <a:t>Driver flow tested</a:t>
            </a:r>
            <a:br/>
            <a:r>
              <a:t>Admin flow tested</a:t>
            </a:r>
            <a:br/>
            <a:r>
              <a:t>30 total cases</a:t>
            </a:r>
            <a:br/>
            <a:r>
              <a:t>30 passed • 0 failed</a:t>
            </a:r>
            <a:br/>
            <a:r>
              <a:t>100% pass rate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700" b="1">
                <a:solidFill>
                  <a:srgbClr val="131F35"/>
                </a:solidFill>
              </a:defRPr>
            </a:pPr>
            <a:r>
              <a:t>27. Deployment, Error Handling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677385"/>
                </a:solidFill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99032"/>
            <a:ext cx="30632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92808"/>
            <a:ext cx="3063239" cy="3657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./start.sh</a:t>
            </a:r>
            <a:br/>
            <a:r>
              <a:t>./stop.sh</a:t>
            </a:r>
            <a:br/>
            <a:r>
              <a:t>./status.sh</a:t>
            </a:r>
            <a:br/>
            <a:br/>
            <a:r>
              <a:t>Startup script manages frontend/backend processes and can auto-start MongoDB via Homebrew.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4480560"/>
          </a:xfrm>
          <a:prstGeom prst="rect">
            <a:avLst/>
          </a:prstGeom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99032"/>
            <a:ext cx="30632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Error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92808"/>
            <a:ext cx="3063239" cy="3657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200 Success</a:t>
            </a:r>
            <a:br/>
            <a:r>
              <a:t>201 Created</a:t>
            </a:r>
            <a:br/>
            <a:r>
              <a:t>401 Unauthenticated</a:t>
            </a:r>
            <a:br/>
            <a:r>
              <a:t>403 Unauthorized</a:t>
            </a:r>
            <a:br/>
            <a:r>
              <a:t>404 Not Found</a:t>
            </a:r>
            <a:br/>
            <a:r>
              <a:t>422 Validation</a:t>
            </a:r>
            <a:br/>
            <a:r>
              <a:t>500 Server Error</a:t>
            </a:r>
            <a:br/>
            <a:br/>
            <a:r>
              <a:t>Frontend shows validation/network errors and loading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73152" cy="4480560"/>
          </a:xfrm>
          <a:prstGeom prst="rect">
            <a:avLst/>
          </a:prstGeom>
          <a:solidFill>
            <a:srgbClr val="2B9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99032"/>
            <a:ext cx="3063239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600" b="1">
                <a:solidFill>
                  <a:srgbClr val="131F35"/>
                </a:solidFill>
              </a:defRPr>
            </a:pPr>
            <a: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92808"/>
            <a:ext cx="3063239" cy="3657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GPS map tracking</a:t>
            </a:r>
            <a:br/>
            <a:r>
              <a:t>Push notifications</a:t>
            </a:r>
            <a:br/>
            <a:r>
              <a:t>Payment gateway</a:t>
            </a:r>
            <a:br/>
            <a:r>
              <a:t>OTP verification</a:t>
            </a:r>
            <a:br/>
            <a:r>
              <a:t>Multi-city support</a:t>
            </a:r>
            <a:br/>
            <a:r>
              <a:t>Mobile apps</a:t>
            </a:r>
            <a:br/>
            <a:r>
              <a:t>In-app chat</a:t>
            </a:r>
            <a:br/>
            <a:r>
              <a:t>Surge pricing</a:t>
            </a:r>
            <a:br/>
            <a:r>
              <a:t>Driver KYC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Login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400">
                <a:solidFill>
                  <a:srgbClr val="5A6E8C"/>
                </a:solidFill>
              </a:defRPr>
            </a:pPr>
            <a:r>
              <a:t>Customer, Driver and Admin login options with a clean role-based authentication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0972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pic>
        <p:nvPicPr>
          <p:cNvPr id="5" name="Picture 4" descr="Screenshot 2026-09-09 at 11.43.26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1" y="1572768"/>
            <a:ext cx="7168896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78879B"/>
                </a:solidFill>
              </a:defRPr>
            </a:pPr>
            <a:r>
              <a:t>Indian Cabs — Project Interface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Customer Dashboard &amp; Ride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400">
                <a:solidFill>
                  <a:srgbClr val="5A6E8C"/>
                </a:solidFill>
              </a:defRPr>
            </a:pPr>
            <a:r>
              <a:t>Customers can enter pickup/drop-off locations, select a vehicle class and view trip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0972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pic>
        <p:nvPicPr>
          <p:cNvPr id="5" name="Picture 4" descr="Screenshot 2026-09-09 at 11.43.56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1" y="1572768"/>
            <a:ext cx="7168896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78879B"/>
                </a:solidFill>
              </a:defRPr>
            </a:pPr>
            <a:r>
              <a:t>Indian Cabs — Project Interface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Wallet Recharge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defRPr sz="1400">
                <a:solidFill>
                  <a:srgbClr val="5A6E8C"/>
                </a:solidFill>
              </a:defRPr>
            </a:pPr>
            <a:r>
              <a:t>Customers can select or enter an amount and add funds to the Indian Cabs wallet.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0972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</a:p>
        </p:txBody>
      </p:sp>
      <p:pic>
        <p:nvPicPr>
          <p:cNvPr id="5" name="Picture 4" descr="Screenshot 2026-09-09 at 11.44.07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1" y="1572768"/>
            <a:ext cx="7168896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r">
              <a:defRPr sz="900">
                <a:solidFill>
                  <a:srgbClr val="78879B"/>
                </a:solidFill>
              </a:defRPr>
            </a:pPr>
            <a:r>
              <a:t>Indian Cabs — Project Interface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3400" b="1">
                <a:solidFill>
                  <a:srgbClr val="14233C"/>
                </a:solidFill>
              </a:defRPr>
            </a:pPr>
            <a:r>
              <a:t>Project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875520" cy="6400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900">
                <a:solidFill>
                  <a:srgbClr val="5A6E8C"/>
                </a:solidFill>
              </a:defRPr>
            </a:pPr>
            <a:r>
              <a:t>Open the Indian Cabs project in your 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2743200"/>
            <a:ext cx="6400800" cy="1143000"/>
          </a:xfrm>
          <a:prstGeom prst="roundRect">
            <a:avLst/>
          </a:prstGeom>
          <a:solidFill>
            <a:srgbClr val="1273D2"/>
          </a:solidFill>
          <a:ln>
            <a:solidFill>
              <a:srgbClr val="1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>
                <a:hlinkClick r:id="rId2"/>
              </a:rPr>
              <a:t>🚕  OPEN INDIAN CABS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51960"/>
            <a:ext cx="9144000" cy="5486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600">
                <a:solidFill>
                  <a:srgbClr val="1273D2"/>
                </a:solidFill>
              </a:defRPr>
            </a:pPr>
            <a:r>
              <a:rPr>
                <a:hlinkClick r:id="rId2"/>
              </a:rPr>
              <a:t>http://localhost:5173/login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83480"/>
            <a:ext cx="9144000" cy="6400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1300">
                <a:solidFill>
                  <a:srgbClr val="647387"/>
                </a:solidFill>
              </a:defRPr>
            </a:pPr>
            <a:r>
              <a:t>Note: This localhost link works when the project is running on your computer.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97880"/>
            <a:ext cx="9144000" cy="4572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 algn="ctr">
              <a:defRPr sz="2200" b="1">
                <a:solidFill>
                  <a:srgbClr val="14233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